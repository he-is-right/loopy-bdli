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8DCCD"/>
                </a:solidFill>
                <a:latin typeface="Aptos"/>
              </a:rPr>
              <a:t>LOOPY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400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8F9FC"/>
                </a:solidFill>
                <a:latin typeface="Aptos"/>
              </a:rPr>
              <a:t>ROUTING,
MIDDLEWARE &amp;
CONTROLLERS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03320"/>
            <a:ext cx="2286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5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5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406908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3DC"/>
                </a:solidFill>
                <a:latin typeface="Aptos"/>
              </a:rPr>
              <a:t>Wednesday • 10:00 AM – 2:00 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709160"/>
            <a:ext cx="365760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81888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ROUTES → MIDDLEWARE → CONTROLLERS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25880"/>
            <a:ext cx="3200400" cy="685800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423160"/>
            <a:ext cx="3200400" cy="685800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265176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520439"/>
            <a:ext cx="3200400" cy="685800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3749039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8920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8DCCD"/>
                </a:solidFill>
                <a:latin typeface="Aptos"/>
              </a:rPr>
              <a:t>FROM ONE BIG app.js TO AN ORGANIZED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smtClean="0">
                <a:solidFill>
                  <a:srgbClr val="091024"/>
                </a:solidFill>
                <a:latin typeface="Aptos"/>
              </a:rPr>
              <a:t>T</a:t>
            </a:r>
            <a:r>
              <a:rPr lang="en-GB" sz="2700" b="1" smtClean="0">
                <a:solidFill>
                  <a:srgbClr val="091024"/>
                </a:solidFill>
                <a:latin typeface="Aptos"/>
              </a:rPr>
              <a:t>he</a:t>
            </a:r>
            <a:r>
              <a:rPr sz="2700" b="1" smtClean="0">
                <a:solidFill>
                  <a:srgbClr val="091024"/>
                </a:solidFill>
                <a:latin typeface="Aptos"/>
              </a:rPr>
              <a:t> </a:t>
            </a:r>
            <a:r>
              <a:rPr sz="2700" b="1" dirty="0">
                <a:solidFill>
                  <a:srgbClr val="091024"/>
                </a:solidFill>
                <a:latin typeface="Aptos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91024"/>
                </a:solidFill>
                <a:latin typeface="Aptos"/>
              </a:rPr>
              <a:t>Students will learn how to organize an Express application properly instead of putting all of their backend code inside one app.js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92024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99008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880360"/>
            <a:ext cx="219456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299008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Middleware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880360"/>
            <a:ext cx="2194560" cy="438912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299008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Controllers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8950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F43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880360"/>
            <a:ext cx="2377440" cy="438912"/>
          </a:xfrm>
          <a:prstGeom prst="roundRect">
            <a:avLst/>
          </a:prstGeom>
          <a:solidFill>
            <a:srgbClr val="9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299008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Organized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48C"/>
                </a:solidFill>
                <a:latin typeface="Aptos"/>
              </a:rPr>
              <a:t>The progression: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8869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6F43FF"/>
                </a:solidFill>
                <a:latin typeface="Aptos"/>
              </a:rPr>
              <a:t>Routes → Middleware → Controllers → Organized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Explain what routing means in Express.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Create routes for different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973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59736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Understand route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80944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80944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Explain what middleware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2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Create and use simple middleware.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59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59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Understand controllers.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4456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44568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Separate routes from application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6577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65776"/>
            <a:ext cx="9509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91024"/>
                </a:solidFill>
                <a:latin typeface="Aptos"/>
              </a:rPr>
              <a:t>Organize a small Express API into multiple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Review of Day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9FC"/>
                </a:solidFill>
                <a:latin typeface="Aptos"/>
              </a:rPr>
              <a:t>Yesterday, students built an Express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5856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2615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42615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26663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26663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0711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10711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HTTP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GET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78808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7880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POST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6285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6285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JSON responses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46904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4690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Route 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3095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095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Aptos"/>
              </a:rPr>
              <a:t>req and 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463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Their application probably looks like: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874519"/>
            <a:ext cx="4023360" cy="192024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2011679"/>
            <a:ext cx="369417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quickapron-api/
│
├── app.js
├── package.json
└── node_modules/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16052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9FC"/>
                </a:solidFill>
                <a:latin typeface="Aptos"/>
              </a:rPr>
              <a:t>Most of the code is inside app.js.
Today we improve that structure.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What is Routing?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91024"/>
                </a:solidFill>
                <a:latin typeface="Aptos"/>
              </a:rPr>
              <a:t>A route tells the server what to do when a particular URL and HTTP method are requested.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943600" cy="182880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377440"/>
            <a:ext cx="56144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app.get("/restaurants", (req, res) =&gt; {
    res.json(restaurants);
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240280"/>
            <a:ext cx="3566160" cy="1737360"/>
          </a:xfrm>
          <a:prstGeom prst="roundRect">
            <a:avLst/>
          </a:prstGeom>
          <a:solidFill>
            <a:srgbClr val="E8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248716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43FF"/>
                </a:solidFill>
                <a:latin typeface="Aptos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91024"/>
                </a:solidFill>
                <a:latin typeface="Aptos"/>
              </a:rPr>
              <a:t>/restaurants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4290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48C"/>
                </a:solidFill>
                <a:latin typeface="Aptos"/>
              </a:rPr>
              <a:t>Return the restaurants.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Different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9FC"/>
                </a:solidFill>
                <a:latin typeface="Aptos"/>
              </a:rPr>
              <a:t>An application can have many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754880" cy="2706624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4425696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GET    /restaurants
GET    /restaurants/:id
POST   /restaurants
GET    /foods
GET    /foods/:id
POST   /foods
GET    /orders
GET    /orders/:id
POST   /orders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4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8DCCD"/>
                </a:solidFill>
                <a:latin typeface="Aptos"/>
              </a:rPr>
              <a:t>As an application grows, putting all of these inside one file becomes difficult to manage.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77639"/>
            <a:ext cx="338328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408736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WE NEED ROUTERS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Introducing express.Router()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91024"/>
                </a:solidFill>
                <a:latin typeface="Aptos"/>
              </a:rPr>
              <a:t>Express provides a way to group related routes.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48C"/>
                </a:solidFill>
                <a:latin typeface="Aptos"/>
              </a:rPr>
              <a:t>Create: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200400" cy="114300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28712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9FC"/>
                </a:solidFill>
                <a:latin typeface="Consolas"/>
              </a:rPr>
              <a:t>routes/
    restaurantRoutes.js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09928"/>
            <a:ext cx="6492240" cy="2596896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883664"/>
            <a:ext cx="6163055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F8F9FC"/>
                </a:solidFill>
                <a:latin typeface="Consolas"/>
              </a:rPr>
              <a:t>const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 express = require("express");
</a:t>
            </a:r>
            <a:r>
              <a:rPr sz="1250" b="0" dirty="0" err="1">
                <a:solidFill>
                  <a:srgbClr val="F8F9FC"/>
                </a:solidFill>
                <a:latin typeface="Consolas"/>
              </a:rPr>
              <a:t>const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 router = </a:t>
            </a:r>
            <a:r>
              <a:rPr sz="1250" b="0" dirty="0" err="1">
                <a:solidFill>
                  <a:srgbClr val="F8F9FC"/>
                </a:solidFill>
                <a:latin typeface="Consolas"/>
              </a:rPr>
              <a:t>express.Router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();
</a:t>
            </a:r>
            <a:r>
              <a:rPr sz="1250" b="0" dirty="0" err="1">
                <a:solidFill>
                  <a:srgbClr val="F8F9FC"/>
                </a:solidFill>
                <a:latin typeface="Consolas"/>
              </a:rPr>
              <a:t>router.get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("/", (</a:t>
            </a:r>
            <a:r>
              <a:rPr sz="1250" b="0" dirty="0" err="1">
                <a:solidFill>
                  <a:srgbClr val="F8F9FC"/>
                </a:solidFill>
                <a:latin typeface="Consolas"/>
              </a:rPr>
              <a:t>req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, res) =&gt; {
    </a:t>
            </a:r>
            <a:r>
              <a:rPr sz="1250" b="0" dirty="0" err="1">
                <a:solidFill>
                  <a:srgbClr val="F8F9FC"/>
                </a:solidFill>
                <a:latin typeface="Consolas"/>
              </a:rPr>
              <a:t>res.json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({
        message: "All restaurants"
    });
});
</a:t>
            </a:r>
            <a:r>
              <a:rPr sz="1250" b="0" dirty="0" err="1">
                <a:solidFill>
                  <a:srgbClr val="F8F9FC"/>
                </a:solidFill>
                <a:latin typeface="Consolas"/>
              </a:rPr>
              <a:t>module.exports</a:t>
            </a:r>
            <a:r>
              <a:rPr sz="1250" b="0" dirty="0">
                <a:solidFill>
                  <a:srgbClr val="F8F9FC"/>
                </a:solidFill>
                <a:latin typeface="Consolas"/>
              </a:rPr>
              <a:t> = router;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Connecting the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6492240" cy="214884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63039"/>
            <a:ext cx="6163055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9FC"/>
                </a:solidFill>
                <a:latin typeface="Consolas"/>
              </a:rPr>
              <a:t>const express = require("express");
const app = express();
const restaurantRoutes = require("./routes/restaurantRoutes");
app.use("/restaurants", restaurantRoutes);
app.listen(3000, () =&gt; {
    console.log("Server running on port 3000");
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50876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8DCCD"/>
                </a:solidFill>
                <a:latin typeface="Aptos"/>
              </a:rPr>
              <a:t>app.use("/restaurants", restaurantRoutes)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514600"/>
            <a:ext cx="3657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9FC"/>
                </a:solidFill>
                <a:latin typeface="Aptos"/>
              </a:rPr>
              <a:t>Any request beginning with /restaurants should be handled by restaurantRoutes.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886200"/>
            <a:ext cx="310896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39959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/restaurants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5262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8F9FC"/>
                </a:solidFill>
                <a:latin typeface="Aptos"/>
              </a:rPr>
              <a:t>will use the restaurant router.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What is Middleware?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91024"/>
                </a:solidFill>
                <a:latin typeface="Aptos"/>
              </a:rPr>
              <a:t>Middleware is code that runs between the incoming request and the final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148840" cy="731520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9FC"/>
                </a:solidFill>
                <a:latin typeface="Aptos"/>
              </a:rPr>
              <a:t>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743200"/>
            <a:ext cx="2148840" cy="731520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9FC"/>
                </a:solidFill>
                <a:latin typeface="Aptos"/>
              </a:rPr>
              <a:t>MIDDLEWARE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43200"/>
            <a:ext cx="2148840" cy="731520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9FC"/>
                </a:solidFill>
                <a:latin typeface="Aptos"/>
              </a:rPr>
              <a:t>ROUTE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2743200"/>
            <a:ext cx="2148840" cy="731520"/>
          </a:xfrm>
          <a:prstGeom prst="round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59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9FC"/>
                </a:solidFill>
                <a:latin typeface="Aptos"/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77639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F43FF"/>
                </a:solidFill>
                <a:latin typeface="Aptos"/>
              </a:rPr>
              <a:t>Think of middleware as a checkpoint.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78231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091024"/>
                </a:solidFill>
                <a:latin typeface="Aptos"/>
              </a:rPr>
              <a:t>Log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78231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091024"/>
                </a:solidFill>
                <a:latin typeface="Aptos"/>
              </a:rPr>
              <a:t>Check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478231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091024"/>
                </a:solidFill>
                <a:latin typeface="Aptos"/>
              </a:rPr>
              <a:t>Validate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478231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091024"/>
                </a:solidFill>
                <a:latin typeface="Aptos"/>
              </a:rPr>
              <a:t>Modify requests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1" y="478231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091024"/>
                </a:solidFill>
                <a:latin typeface="Aptos"/>
              </a:rPr>
              <a:t>Handle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Simple Middleware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214884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5340096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8F9FC"/>
                </a:solidFill>
                <a:latin typeface="Consolas"/>
              </a:rPr>
              <a:t>const logger = (req, res, next) =&gt; {
    console.log(`${req.method} ${req.url}`);
    next();
};
app.use(logger);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50876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9FC"/>
                </a:solidFill>
                <a:latin typeface="Aptos"/>
              </a:rPr>
              <a:t>Now every request can appear in the terminal: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148840"/>
            <a:ext cx="347472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225856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/restaurants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834640"/>
            <a:ext cx="347472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294436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/foods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520440"/>
            <a:ext cx="3474720" cy="438912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363016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POST /orders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2628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8DCCD"/>
                </a:solidFill>
                <a:latin typeface="Aptos"/>
              </a:rPr>
              <a:t>The logger runs before the route continues.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Understanding next()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B748C"/>
                </a:solidFill>
                <a:latin typeface="Aptos"/>
              </a:rPr>
              <a:t>next() means: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6F43FF"/>
                </a:solidFill>
                <a:latin typeface="Aptos"/>
              </a:rPr>
              <a:t>"I am finished with my part; continue to the next middleware or route."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1"/>
            <a:ext cx="2834640" cy="2359151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57031" y="1554480"/>
            <a:ext cx="2505456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Request
   ↓
Logger
   ↓
next()
   ↓
Route
   ↓
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F5B6F"/>
                </a:solidFill>
                <a:latin typeface="Aptos"/>
              </a:rPr>
              <a:t>Without next(), the request can get stuck.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Middleware Example: Checking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9FC"/>
                </a:solidFill>
                <a:latin typeface="Aptos"/>
              </a:rPr>
              <a:t>Introduce a simple example without implementing real authentication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126480" cy="2688337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1679"/>
            <a:ext cx="579729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8F9FC"/>
                </a:solidFill>
                <a:latin typeface="Consolas"/>
              </a:rPr>
              <a:t>const checkAccess = (req, res, next) =&gt; {
    const allowed = true;
    if (!allowed) {
        return res.status(401).json({
            message: "Access denied"
        });
    }
    next();
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94560"/>
            <a:ext cx="329184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230428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app.use(checkAccess)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108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8DCCD"/>
                </a:solidFill>
                <a:latin typeface="Aptos"/>
              </a:rPr>
              <a:t>Real authentication will come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Route-Specific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1929384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5157216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8F9FC"/>
                </a:solidFill>
                <a:latin typeface="Consolas"/>
              </a:rPr>
              <a:t>app.get(
    "/orders",
    checkAccess,
    (req, res) =&gt; {
        res.json({ message: "Orders" });
    }
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554480"/>
            <a:ext cx="3657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91024"/>
                </a:solidFill>
                <a:latin typeface="Aptos"/>
              </a:rPr>
              <a:t>Middleware does not have to apply to the entire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43200"/>
            <a:ext cx="283464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2852928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/orders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4747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F43FF"/>
                </a:solidFill>
                <a:latin typeface="Aptos"/>
              </a:rPr>
              <a:t>Here, checkAccess runs only for /orders.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What is a Controller?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9FC"/>
                </a:solidFill>
                <a:latin typeface="Aptos"/>
              </a:rPr>
              <a:t>So far, route and actual logic are written together: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669280" cy="164592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534009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router.get("/", (req, res) =&gt; {
    res.json(restaurants);
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B748C"/>
                </a:solidFill>
                <a:latin typeface="Aptos"/>
              </a:rPr>
              <a:t>As applications grow, we want to separate these responsibilities.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108960" cy="640080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184708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697480"/>
            <a:ext cx="3108960" cy="640080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289864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749039"/>
            <a:ext cx="3108960" cy="640080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3950208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Creating a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48C"/>
                </a:solidFill>
                <a:latin typeface="Aptos"/>
              </a:rPr>
              <a:t>Create: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09728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305409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9FC"/>
                </a:solidFill>
                <a:latin typeface="Consolas"/>
              </a:rPr>
              <a:t>controllers/
    restaurantController.js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06424"/>
            <a:ext cx="6583680" cy="4014216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371600"/>
            <a:ext cx="6254496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9FC"/>
                </a:solidFill>
                <a:latin typeface="Consolas"/>
              </a:rPr>
              <a:t>const getRestaurants = (req, res) =&gt; {
    res.json([
        {
            id: 1,
            name: "Chicken Republic"
        },
        {
            id: 2,
            name: "Genesis"
        }
    ]);
};
module.exports = {
    getRestaurants
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Connecting Controller to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852160" cy="256032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63039"/>
            <a:ext cx="5522976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8F9FC"/>
                </a:solidFill>
                <a:latin typeface="Consolas"/>
              </a:rPr>
              <a:t>const express = require("express");
const router = express.Router();
const {
    getRestaurants
} = require("../controllers/restaurantController");
router.get("/", getRestaurants);
module.exports = router;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5087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8DCCD"/>
                </a:solidFill>
                <a:latin typeface="Aptos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9FC"/>
                </a:solidFill>
                <a:latin typeface="Aptos"/>
              </a:rPr>
              <a:t>Determines where the request goes.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8803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F43FF"/>
                </a:solidFill>
                <a:latin typeface="Aptos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461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9FC"/>
                </a:solidFill>
                <a:latin typeface="Aptos"/>
              </a:rPr>
              <a:t>Determines what happens.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The New Application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5669280" cy="3008376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554480"/>
            <a:ext cx="5340096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quickapron-api/
│
├── controllers/
│   └── restaurantController.js
│
├── routes/
│   └── restaurantRoutes.js
│
├── app.js
├── package.json
└── node_modules/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10312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43FF"/>
                </a:solidFill>
                <a:latin typeface="Aptos"/>
              </a:rPr>
              <a:t>This structure becomes increasingly important as applications get larger.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794760"/>
            <a:ext cx="402336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39044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SEPARATION OF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Adding Food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400800" cy="276148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71600"/>
            <a:ext cx="6071616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9FC"/>
                </a:solidFill>
                <a:latin typeface="Consolas"/>
              </a:rPr>
              <a:t>routes/foodRoutes.js
const express = require("express");
const router = express.Router();
router.get("/", (req, res) =&gt; {
    res.json([
        { id: 1, name: "Jollof Rice", price: 3500 },
        { id: 2, name: "Fried Rice", price: 4000 }
    ]);
});
module.exports = router;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3886200" cy="192024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9792" y="1691639"/>
            <a:ext cx="355701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9FC"/>
                </a:solidFill>
                <a:latin typeface="Consolas"/>
              </a:rPr>
              <a:t>const foodRoutes = require("./routes/foodRoutes");
app.use("/foods", foodRoutes);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886200"/>
            <a:ext cx="301752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3995928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/foods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9FC"/>
                </a:solidFill>
                <a:latin typeface="Aptos"/>
              </a:rPr>
              <a:t>works independently of GET /restaurants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Putting Everything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91024"/>
                </a:solidFill>
                <a:latin typeface="Aptos"/>
              </a:rPr>
              <a:t>The architecture now looks like: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23160"/>
            <a:ext cx="1261872" cy="685800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1368" y="2423160"/>
            <a:ext cx="1261872" cy="685800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01368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2696" y="2423160"/>
            <a:ext cx="1261872" cy="685800"/>
          </a:xfrm>
          <a:prstGeom prst="roundRect">
            <a:avLst/>
          </a:prstGeom>
          <a:solidFill>
            <a:srgbClr val="9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82696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4024" y="2423160"/>
            <a:ext cx="1261872" cy="685800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423160"/>
            <a:ext cx="1261872" cy="685800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5352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80" y="2423160"/>
            <a:ext cx="1261872" cy="685800"/>
          </a:xfrm>
          <a:prstGeom prst="roundRect">
            <a:avLst/>
          </a:prstGeom>
          <a:solidFill>
            <a:srgbClr val="3EC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Data /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8" y="2423160"/>
            <a:ext cx="1261872" cy="685800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89336" y="2423160"/>
            <a:ext cx="1261872" cy="685800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89336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8F9FC"/>
                </a:solidFill>
                <a:latin typeface="Aptos"/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43FF"/>
                </a:solidFill>
                <a:latin typeface="Aptos"/>
              </a:rPr>
              <a:t>This structure is the foundation of many real backend applications.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Practical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9FC"/>
                </a:solidFill>
                <a:latin typeface="Aptos"/>
              </a:rPr>
              <a:t>QuickApron API — Version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48C"/>
                </a:solidFill>
                <a:latin typeface="Aptos"/>
              </a:rPr>
              <a:t>Students should restructure yesterday's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28600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Restaurants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9FC"/>
                </a:solidFill>
                <a:latin typeface="Consolas"/>
              </a:rPr>
              <a:t>GET /restaurants
GET /restaurants/:id
POST /restaurants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51760"/>
            <a:ext cx="201168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76148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Foods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8F9FC"/>
                </a:solidFill>
                <a:latin typeface="Consolas"/>
              </a:rPr>
              <a:t>GET /foods
GET /foods/:id
POST /foods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2743200" cy="228600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651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8DCCD"/>
                </a:solidFill>
                <a:latin typeface="Aptos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461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9FC"/>
                </a:solidFill>
                <a:latin typeface="Aptos"/>
              </a:rPr>
              <a:t>Move code out of app.js and into routes + controllers.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Required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6400800" cy="317296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554480"/>
            <a:ext cx="6071616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quickapron-api/
│
├── controllers/
│   ├── restaurantController.js
│   └── foodController.js
│
├── routes/
│   ├── restaurantRoutes.js
│   └── foodRoutes.js
│
├── app.js
├── package.json
└── node_modules/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43FF"/>
                </a:solidFill>
                <a:latin typeface="Aptos"/>
              </a:rPr>
              <a:t>Keep the structure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060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91024"/>
                </a:solidFill>
                <a:latin typeface="Aptos"/>
              </a:rPr>
              <a:t>No complicated architecture yet.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703320"/>
            <a:ext cx="329184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381304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ROUTES +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Practical Exercise: Request Logger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9FC"/>
                </a:solidFill>
                <a:latin typeface="Aptos"/>
              </a:rPr>
              <a:t>Create middleware that prints requests in the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749039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/restaurants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62072"/>
            <a:ext cx="3749039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/foods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75304"/>
            <a:ext cx="3749039" cy="438912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85032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POST /restaurants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8DCCD"/>
                </a:solidFill>
                <a:latin typeface="Aptos"/>
              </a:rPr>
              <a:t>Students should test different endpoints and observe the terminal.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Mini Challenge: Order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48C"/>
                </a:solidFill>
                <a:latin typeface="Aptos"/>
              </a:rPr>
              <a:t>Create: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749039" cy="123444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3419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9FC"/>
                </a:solidFill>
                <a:latin typeface="Consolas"/>
              </a:rPr>
              <a:t>routes/orderRoutes.js
controllers/orderController.js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645920"/>
            <a:ext cx="246888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75564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645920"/>
            <a:ext cx="274320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75564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GET /orders/:id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468880"/>
            <a:ext cx="2468880" cy="438912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57860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POST /orders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4572000" cy="224028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383279"/>
            <a:ext cx="4242816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8F9FC"/>
                </a:solidFill>
                <a:latin typeface="Consolas"/>
              </a:rPr>
              <a:t>const orders = [
    {
        id: 1,
        customer: "John",
        food: "Jollof Rice",
        total: 5000
    }
];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4290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91024"/>
                </a:solidFill>
                <a:latin typeface="Aptos"/>
              </a:rPr>
              <a:t>For now, orders can remain in an array.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515600" cy="74980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9FC"/>
                </a:solidFill>
                <a:latin typeface="Aptos"/>
              </a:rPr>
              <a:t>❌ Forgetting module.exports — a controller must be exported before another file can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10515600" cy="74980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79191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9FC"/>
                </a:solidFill>
                <a:latin typeface="Aptos"/>
              </a:rPr>
              <a:t>❌ Incorrect import path — require(...) must point to the correct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0439"/>
            <a:ext cx="10515600" cy="74980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9FC"/>
                </a:solidFill>
                <a:latin typeface="Aptos"/>
              </a:rPr>
              <a:t>❌ Forgetting next() — middleware can stop the request from continuing.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10515600" cy="74980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7823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9FC"/>
                </a:solidFill>
                <a:latin typeface="Aptos"/>
              </a:rPr>
              <a:t>❌ Incorrect route prefixes — app.use('/restaurants', router) + router.get('/') = /restaurants.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8DCCD"/>
                </a:solidFill>
                <a:latin typeface="Aptos"/>
              </a:rPr>
              <a:t>Remember: the final URL is built from the prefix + router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What is routing?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What does express.Router()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175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What is middleware?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404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Why do we use next()?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634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What is a controller?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3716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What is the difference between a route and a controller?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Why should we separate routes and controllers?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175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What happens when a request goes through middleware?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43FF"/>
                </a:solidFill>
                <a:latin typeface="Aptos"/>
              </a:rPr>
              <a:t>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404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Why is application structure important?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9FC"/>
                </a:solidFill>
                <a:latin typeface="Aptos"/>
              </a:rPr>
              <a:t>Refactor your QuickApron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Your project must have: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10312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4144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controllers/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331720"/>
            <a:ext cx="1737360" cy="438912"/>
          </a:xfrm>
          <a:prstGeom prst="roundRect">
            <a:avLst/>
          </a:prstGeom>
          <a:solidFill>
            <a:srgbClr val="28D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24414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routes/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331720"/>
            <a:ext cx="1554480" cy="438912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44144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app.js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331720"/>
            <a:ext cx="2286000" cy="438912"/>
          </a:xfrm>
          <a:prstGeom prst="roundRect">
            <a:avLst/>
          </a:prstGeom>
          <a:solidFill>
            <a:srgbClr val="9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2441448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package.json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Restaurant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GET /restaurants
GET /restaurants/:id
POST /restaurants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1188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GET /foods
GET /foods/:id
POST /foods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246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61188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GET /orders
GET /orders/:id
POST /orders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8DCCD"/>
                </a:solidFill>
                <a:latin typeface="Aptos"/>
              </a:rPr>
              <a:t>Also create a request logger middleware.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Instructor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10:00 – 10:20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9903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Review Day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10:20 – 10:50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9933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Express routing and express.Router()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10:50 – 11:20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8775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Middleware and next()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920240" cy="384048"/>
          </a:xfrm>
          <a:prstGeom prst="roundRect">
            <a:avLst/>
          </a:prstGeom>
          <a:solidFill>
            <a:srgbClr val="FFA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11:20 – 11:30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8211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Break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59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11:30 – 12:10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77647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Introduction to controllers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12:10 – 12:50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37083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Refactoring the QuickApron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9204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12:50 – 1:40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96519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Student practical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920240" cy="384048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8F9FC"/>
                </a:solidFill>
                <a:latin typeface="Aptos"/>
              </a:rPr>
              <a:t>1:40 – 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555955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91024"/>
                </a:solidFill>
                <a:latin typeface="Aptos"/>
              </a:rPr>
              <a:t>Testing, debugging and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28DCCD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28DCCD"/>
                </a:solidFill>
                <a:latin typeface="Aptos"/>
              </a:rPr>
              <a:t>8</a:t>
            </a:r>
            <a:endParaRPr sz="1000" b="1" dirty="0">
              <a:solidFill>
                <a:srgbClr val="28DC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9FC"/>
                </a:solidFill>
                <a:latin typeface="Aptos"/>
              </a:rPr>
              <a:t>What Students Have Now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B748C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DCCD"/>
                </a:solidFill>
                <a:latin typeface="Aptos"/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960120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18653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React
  ↓
HTTP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43FF"/>
                </a:solidFill>
                <a:latin typeface="Aptos"/>
              </a:rPr>
              <a:t>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874520"/>
            <a:ext cx="3017520" cy="2167128"/>
          </a:xfrm>
          <a:prstGeom prst="roundRect">
            <a:avLst/>
          </a:prstGeom>
          <a:solidFill>
            <a:srgbClr val="121C39"/>
          </a:solidFill>
          <a:ln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965960"/>
            <a:ext cx="2688336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9FC"/>
                </a:solidFill>
                <a:latin typeface="Consolas"/>
              </a:rPr>
              <a:t>Express
  ↓
Middleware
  ↓
Routes
  ↓
Controllers
  ↓
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417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A947"/>
                </a:solidFill>
                <a:latin typeface="Aptos"/>
              </a:rPr>
              <a:t>Next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574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9FC"/>
                </a:solidFill>
                <a:latin typeface="Aptos"/>
              </a:rPr>
              <a:t>Database &amp;
data persistence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749039"/>
            <a:ext cx="347472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60" y="385876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TODAY: ORGANIZE THE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57200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48C"/>
                </a:solidFill>
                <a:latin typeface="Aptos"/>
              </a:rPr>
              <a:t>The lesson points students toward a data layer and persistence.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D87A0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6F43FF"/>
                </a:solidFill>
                <a:latin typeface="Aptos"/>
              </a:rPr>
              <a:t>MODULE </a:t>
            </a:r>
            <a:r>
              <a:rPr sz="1000" b="1" dirty="0" smtClean="0">
                <a:solidFill>
                  <a:srgbClr val="6F43FF"/>
                </a:solidFill>
                <a:latin typeface="Aptos"/>
              </a:rPr>
              <a:t>8</a:t>
            </a:r>
            <a:endParaRPr sz="1000" b="1" dirty="0">
              <a:solidFill>
                <a:srgbClr val="6F43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91024"/>
                </a:solidFill>
                <a:latin typeface="Aptos"/>
              </a:rPr>
              <a:t>Day 19 — Complete 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2468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F43FF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91024"/>
                </a:solidFill>
                <a:latin typeface="Aptos"/>
              </a:rPr>
              <a:t>Review → Routing → Router → Middleware → next() → Access Check → Route-Specific Middleware → Controllers → Refactoring → Food Routes → Full Architecture → Practical → Challenge → Mistakes → Review →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3383280"/>
            <a:ext cx="5852160" cy="438912"/>
          </a:xfrm>
          <a:prstGeom prst="roundRect">
            <a:avLst/>
          </a:prstGeom>
          <a:solidFill>
            <a:srgbClr val="6F4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3493008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9FC"/>
                </a:solidFill>
                <a:latin typeface="Aptos"/>
              </a:rPr>
              <a:t>NOT A SUMMARY — FULL TEACHING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F43FF"/>
                </a:solidFill>
                <a:latin typeface="Aptos"/>
              </a:rPr>
              <a:t>Use the code slides for live teaching and the practical slides for student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48C"/>
                </a:solidFill>
                <a:latin typeface="Aptos"/>
              </a:rPr>
              <a:t>SOFTWARE DEVELOPMENT BOOTCAMP  •  BACKEND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1990</Words>
  <Application>Microsoft Office PowerPoint</Application>
  <PresentationFormat>Widescreen</PresentationFormat>
  <Paragraphs>334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Tim Dawadakpoye</cp:lastModifiedBy>
  <cp:revision>4</cp:revision>
  <dcterms:created xsi:type="dcterms:W3CDTF">2013-01-27T09:14:16Z</dcterms:created>
  <dcterms:modified xsi:type="dcterms:W3CDTF">2026-08-31T09:53:39Z</dcterms:modified>
  <cp:category/>
</cp:coreProperties>
</file>